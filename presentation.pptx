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FC6F-7163-D76C-A3A2-C5C354144D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088B39-B3F2-6C0E-4B7C-9AB928DDBF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B22801-8F77-E50D-E6FA-2E1C0CAE225B}"/>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22A6AC3C-9917-7D61-603C-FD730E1CAE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2CCE1-68BA-19F4-EE3E-FF0C3948A10E}"/>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1136866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21721-AC5E-5199-845F-76F9D381CD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C1E0A4-7BF4-0078-C4BF-2B38E486C0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12E59-2423-FAD2-A3AE-80E6950ED8C7}"/>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68EE06E5-DC98-189A-8CA5-063C8FF48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5D3B7-238D-277D-13A7-C9E219F4D197}"/>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2647174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B950-83D7-E54C-BC8B-340F34F9D7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BB0970-1F1B-D169-6393-60367D8BB8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1F4304-109D-B885-D8F8-E7321A427B38}"/>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AC18CAC0-EE34-020C-CFF5-83C51527E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2F24F8-29E1-D2C2-27A0-6D28AEE75CC6}"/>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235147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137F-36A4-CA3E-F209-E630E959C4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F6690F-B224-3D5E-3E9B-50E766B902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5A7804-5B61-5B04-E903-D3A3B460AF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42858-7DB8-53ED-BB4E-CE641E2A9FFB}"/>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6" name="Footer Placeholder 5">
            <a:extLst>
              <a:ext uri="{FF2B5EF4-FFF2-40B4-BE49-F238E27FC236}">
                <a16:creationId xmlns:a16="http://schemas.microsoft.com/office/drawing/2014/main" id="{BD82F9E0-8FB1-0DE4-8D2D-B672C5CC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C88B50-2EA2-2107-CDA5-60EA4F755EE9}"/>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3952840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C8528-0FA6-6EC8-6EDA-612D1830C3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EA935-8D16-0401-6FB2-DFD86063A7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84EE1B-936E-8C69-7D73-C324CA2D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139EF9-59D8-DA89-017B-08BC136AB5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D7DFBC-E07A-EEC2-96F4-D100B8189F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EE587D-1649-68AC-C2CD-FD6C65F37F59}"/>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8" name="Footer Placeholder 7">
            <a:extLst>
              <a:ext uri="{FF2B5EF4-FFF2-40B4-BE49-F238E27FC236}">
                <a16:creationId xmlns:a16="http://schemas.microsoft.com/office/drawing/2014/main" id="{DB67CF9A-8738-75B7-3E60-5CDCE01109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4CEB6D-934D-0DCB-E112-C940169291A9}"/>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94966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18F3-877B-29BF-83DD-DE086C3B8C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D3A0F2-8F29-3B0C-CD4C-C508F69EA901}"/>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4" name="Footer Placeholder 3">
            <a:extLst>
              <a:ext uri="{FF2B5EF4-FFF2-40B4-BE49-F238E27FC236}">
                <a16:creationId xmlns:a16="http://schemas.microsoft.com/office/drawing/2014/main" id="{94A45B74-61DD-8DD9-7536-AA8C22760D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0434CC-5403-DDEB-5A0F-EF072A8E0F0A}"/>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3237372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62D67E-30B7-A28B-080C-8F301223D741}"/>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3" name="Footer Placeholder 2">
            <a:extLst>
              <a:ext uri="{FF2B5EF4-FFF2-40B4-BE49-F238E27FC236}">
                <a16:creationId xmlns:a16="http://schemas.microsoft.com/office/drawing/2014/main" id="{78927967-7861-4A75-181B-F7B0182E66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888B8B-E57C-EAF2-D4ED-6F427108D216}"/>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2267153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4DEC-64FF-CB6F-23EF-7E1A8B8320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ACFE26-6BCE-26A4-6740-13AA28368F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E9B2C4-D9D0-E78C-2107-6677C59D0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13637C-2E2B-518D-46B2-7326073E723A}"/>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6" name="Footer Placeholder 5">
            <a:extLst>
              <a:ext uri="{FF2B5EF4-FFF2-40B4-BE49-F238E27FC236}">
                <a16:creationId xmlns:a16="http://schemas.microsoft.com/office/drawing/2014/main" id="{D0FAA090-E8E4-E797-216C-06319B0EE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6F4A5A-BB76-61F1-78A7-3CDBEE4CF8E4}"/>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267434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4D4BC-5195-29A0-C307-605BFDAEEA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8D4F59-68E4-4F8A-5B30-C4910A3590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8427DC-EADC-9907-24CF-54A02F6BBD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319AE-0F52-8875-22F3-CDE41706C165}"/>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6" name="Footer Placeholder 5">
            <a:extLst>
              <a:ext uri="{FF2B5EF4-FFF2-40B4-BE49-F238E27FC236}">
                <a16:creationId xmlns:a16="http://schemas.microsoft.com/office/drawing/2014/main" id="{C2D6155A-07B3-34BE-8A7A-D977774BAE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77A2E8-70D6-AE4B-6C0B-FB53ABA75105}"/>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279632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59015-808D-8506-5E1E-CFE39F49D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B39808-54FF-706B-0146-CDB73899C9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4146E-54C8-4174-A214-FEE87F4A7B05}"/>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C08ACB75-5E5D-5813-78EA-765ADC30C6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C56C4-6325-B172-FE9A-AB6E59B180D9}"/>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581719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DA187-561A-9ED9-042A-F974FB184D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3C2974-ED73-0FEF-5CFE-20955393FC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9E0171-C592-2A35-14F0-F797D4A8E225}"/>
              </a:ext>
            </a:extLst>
          </p:cNvPr>
          <p:cNvSpPr>
            <a:spLocks noGrp="1"/>
          </p:cNvSpPr>
          <p:nvPr>
            <p:ph type="dt" sz="half" idx="10"/>
          </p:nvPr>
        </p:nvSpPr>
        <p:spPr/>
        <p:txBody>
          <a:body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50D89295-5066-67DA-BA09-663041B6F4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7FA63-4FC2-4ADA-8289-19B476E5CF4C}"/>
              </a:ext>
            </a:extLst>
          </p:cNvPr>
          <p:cNvSpPr>
            <a:spLocks noGrp="1"/>
          </p:cNvSpPr>
          <p:nvPr>
            <p:ph type="sldNum" sz="quarter" idx="12"/>
          </p:nvPr>
        </p:nvSpPr>
        <p:spPr/>
        <p:txBody>
          <a:bodyPr/>
          <a:lstStyle/>
          <a:p>
            <a:fld id="{5CDE9446-0BF3-4491-86BF-84A374B61890}" type="slidenum">
              <a:rPr lang="en-US" smtClean="0"/>
              <a:t>‹#›</a:t>
            </a:fld>
            <a:endParaRPr lang="en-US"/>
          </a:p>
        </p:txBody>
      </p:sp>
    </p:spTree>
    <p:extLst>
      <p:ext uri="{BB962C8B-B14F-4D97-AF65-F5344CB8AC3E}">
        <p14:creationId xmlns:p14="http://schemas.microsoft.com/office/powerpoint/2010/main" val="395185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A2F0ED-EF13-DEB2-9B2D-37F2F58AF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8EF55E-9195-397F-51D4-D4AB9650F3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F13516-8BC5-25C8-08A4-AF311784E5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932550-A625-4F1C-86FB-BC857FEA3B4A}" type="datetimeFigureOut">
              <a:rPr lang="en-US" smtClean="0"/>
              <a:t>5/6/2026</a:t>
            </a:fld>
            <a:endParaRPr lang="en-US"/>
          </a:p>
        </p:txBody>
      </p:sp>
      <p:sp>
        <p:nvSpPr>
          <p:cNvPr id="5" name="Footer Placeholder 4">
            <a:extLst>
              <a:ext uri="{FF2B5EF4-FFF2-40B4-BE49-F238E27FC236}">
                <a16:creationId xmlns:a16="http://schemas.microsoft.com/office/drawing/2014/main" id="{A4348A10-0145-98B1-0007-AE6F728BB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999CA8-41CF-9807-A4FD-A2CBFEBCCD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DE9446-0BF3-4491-86BF-84A374B61890}" type="slidenum">
              <a:rPr lang="en-US" smtClean="0"/>
              <a:t>‹#›</a:t>
            </a:fld>
            <a:endParaRPr lang="en-US"/>
          </a:p>
        </p:txBody>
      </p:sp>
    </p:spTree>
    <p:extLst>
      <p:ext uri="{BB962C8B-B14F-4D97-AF65-F5344CB8AC3E}">
        <p14:creationId xmlns:p14="http://schemas.microsoft.com/office/powerpoint/2010/main" val="2679481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92EC5-1B51-E6BC-9421-184CB2B281A9}"/>
              </a:ext>
            </a:extLst>
          </p:cNvPr>
          <p:cNvSpPr>
            <a:spLocks noGrp="1"/>
          </p:cNvSpPr>
          <p:nvPr>
            <p:ph type="ctrTitle"/>
          </p:nvPr>
        </p:nvSpPr>
        <p:spPr>
          <a:xfrm>
            <a:off x="1730477" y="1436996"/>
            <a:ext cx="9144000" cy="2387600"/>
          </a:xfrm>
        </p:spPr>
        <p:txBody>
          <a:bodyPr>
            <a:normAutofit/>
          </a:bodyPr>
          <a:lstStyle/>
          <a:p>
            <a:r>
              <a:rPr lang="en-US" sz="3100" dirty="0"/>
              <a:t>Grocery Shopping Optimization Using Dynamic Programming</a:t>
            </a:r>
            <a:br>
              <a:rPr lang="en-US" dirty="0"/>
            </a:br>
            <a:endParaRPr lang="en-US" dirty="0"/>
          </a:p>
        </p:txBody>
      </p:sp>
      <p:sp>
        <p:nvSpPr>
          <p:cNvPr id="4" name="TextBox 3">
            <a:extLst>
              <a:ext uri="{FF2B5EF4-FFF2-40B4-BE49-F238E27FC236}">
                <a16:creationId xmlns:a16="http://schemas.microsoft.com/office/drawing/2014/main" id="{227C8200-7CFA-FF83-F345-C66E974A860F}"/>
              </a:ext>
            </a:extLst>
          </p:cNvPr>
          <p:cNvSpPr txBox="1"/>
          <p:nvPr/>
        </p:nvSpPr>
        <p:spPr>
          <a:xfrm>
            <a:off x="4660491" y="3178265"/>
            <a:ext cx="5663380" cy="646331"/>
          </a:xfrm>
          <a:prstGeom prst="rect">
            <a:avLst/>
          </a:prstGeom>
          <a:noFill/>
        </p:spPr>
        <p:txBody>
          <a:bodyPr wrap="square" rtlCol="0">
            <a:spAutoFit/>
          </a:bodyPr>
          <a:lstStyle/>
          <a:p>
            <a:r>
              <a:rPr lang="en-US" dirty="0"/>
              <a:t>MSML606 Extra Credit Project 2</a:t>
            </a:r>
          </a:p>
          <a:p>
            <a:endParaRPr lang="en-US" dirty="0"/>
          </a:p>
        </p:txBody>
      </p:sp>
      <p:sp>
        <p:nvSpPr>
          <p:cNvPr id="5" name="TextBox 4">
            <a:extLst>
              <a:ext uri="{FF2B5EF4-FFF2-40B4-BE49-F238E27FC236}">
                <a16:creationId xmlns:a16="http://schemas.microsoft.com/office/drawing/2014/main" id="{ECB0DFFE-6067-54C4-FAFE-D1DCF0D4F3D9}"/>
              </a:ext>
            </a:extLst>
          </p:cNvPr>
          <p:cNvSpPr txBox="1"/>
          <p:nvPr/>
        </p:nvSpPr>
        <p:spPr>
          <a:xfrm>
            <a:off x="403123" y="4611329"/>
            <a:ext cx="4021393" cy="923330"/>
          </a:xfrm>
          <a:prstGeom prst="rect">
            <a:avLst/>
          </a:prstGeom>
          <a:noFill/>
        </p:spPr>
        <p:txBody>
          <a:bodyPr wrap="square" rtlCol="0">
            <a:spAutoFit/>
          </a:bodyPr>
          <a:lstStyle/>
          <a:p>
            <a:r>
              <a:rPr lang="en-US" dirty="0"/>
              <a:t>Simran Kharbanda  (UID: 122283671)</a:t>
            </a:r>
          </a:p>
          <a:p>
            <a:r>
              <a:rPr lang="en-US" dirty="0"/>
              <a:t> Shashank Ashoka   (UID: 122241329)</a:t>
            </a:r>
          </a:p>
          <a:p>
            <a:endParaRPr lang="en-US" dirty="0"/>
          </a:p>
        </p:txBody>
      </p:sp>
    </p:spTree>
    <p:extLst>
      <p:ext uri="{BB962C8B-B14F-4D97-AF65-F5344CB8AC3E}">
        <p14:creationId xmlns:p14="http://schemas.microsoft.com/office/powerpoint/2010/main" val="281652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8FC4-B118-5CB8-0BD7-76EF642C558A}"/>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372FAF90-C310-DB99-E00F-469C828528C7}"/>
              </a:ext>
            </a:extLst>
          </p:cNvPr>
          <p:cNvSpPr>
            <a:spLocks noGrp="1"/>
          </p:cNvSpPr>
          <p:nvPr>
            <p:ph idx="1"/>
          </p:nvPr>
        </p:nvSpPr>
        <p:spPr/>
        <p:txBody>
          <a:bodyPr>
            <a:normAutofit fontScale="92500" lnSpcReduction="10000"/>
          </a:bodyPr>
          <a:lstStyle/>
          <a:p>
            <a:r>
              <a:rPr lang="en-US" dirty="0"/>
              <a:t>Grocery shopping can be confusing when trying to eat healthy and stay within a budget.</a:t>
            </a:r>
          </a:p>
          <a:p>
            <a:r>
              <a:rPr lang="en-US" dirty="0"/>
              <a:t>Shoppers may want enough protein, fiber, vitamins, or minerals, but comparing many products is difficult.</a:t>
            </a:r>
          </a:p>
          <a:p>
            <a:r>
              <a:rPr lang="en-US" dirty="0"/>
              <a:t>People often buy items that do not fully meet their nutrition goals.</a:t>
            </a:r>
          </a:p>
          <a:p>
            <a:r>
              <a:rPr lang="en-US" dirty="0"/>
              <a:t>There is a tradeoff between </a:t>
            </a:r>
            <a:r>
              <a:rPr lang="en-US" b="1" dirty="0"/>
              <a:t>cost</a:t>
            </a:r>
            <a:r>
              <a:rPr lang="en-US" dirty="0"/>
              <a:t> and </a:t>
            </a:r>
            <a:r>
              <a:rPr lang="en-US" b="1" dirty="0"/>
              <a:t>nutrition</a:t>
            </a:r>
            <a:r>
              <a:rPr lang="en-US" dirty="0"/>
              <a:t>.</a:t>
            </a:r>
          </a:p>
          <a:p>
            <a:r>
              <a:rPr lang="en-US" dirty="0"/>
              <a:t>The goal is to choose the best combination of grocery items without going over the budget.</a:t>
            </a:r>
          </a:p>
          <a:p>
            <a:r>
              <a:rPr lang="en-US" dirty="0"/>
              <a:t>This problem can be solved using the </a:t>
            </a:r>
            <a:r>
              <a:rPr lang="en-US" b="1" dirty="0"/>
              <a:t>0/1 Knapsack Dynamic Programming algorithm</a:t>
            </a:r>
            <a:r>
              <a:rPr lang="en-US" dirty="0"/>
              <a:t>, where each item is either selected or not selected.</a:t>
            </a:r>
          </a:p>
        </p:txBody>
      </p:sp>
    </p:spTree>
    <p:extLst>
      <p:ext uri="{BB962C8B-B14F-4D97-AF65-F5344CB8AC3E}">
        <p14:creationId xmlns:p14="http://schemas.microsoft.com/office/powerpoint/2010/main" val="45877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89F63-7CE7-C9A3-B0FA-3634B4BED772}"/>
              </a:ext>
            </a:extLst>
          </p:cNvPr>
          <p:cNvSpPr>
            <a:spLocks noGrp="1"/>
          </p:cNvSpPr>
          <p:nvPr>
            <p:ph type="title"/>
          </p:nvPr>
        </p:nvSpPr>
        <p:spPr>
          <a:xfrm>
            <a:off x="838200" y="365126"/>
            <a:ext cx="9525000" cy="736088"/>
          </a:xfrm>
        </p:spPr>
        <p:txBody>
          <a:bodyPr>
            <a:normAutofit/>
          </a:bodyPr>
          <a:lstStyle/>
          <a:p>
            <a:r>
              <a:rPr lang="en-US" sz="2800" dirty="0"/>
              <a:t>Dataset overview</a:t>
            </a:r>
          </a:p>
        </p:txBody>
      </p:sp>
      <p:sp>
        <p:nvSpPr>
          <p:cNvPr id="3" name="Content Placeholder 2">
            <a:extLst>
              <a:ext uri="{FF2B5EF4-FFF2-40B4-BE49-F238E27FC236}">
                <a16:creationId xmlns:a16="http://schemas.microsoft.com/office/drawing/2014/main" id="{E9BBCC3A-30CE-50B4-DC1A-58FE6192EBB1}"/>
              </a:ext>
            </a:extLst>
          </p:cNvPr>
          <p:cNvSpPr>
            <a:spLocks noGrp="1"/>
          </p:cNvSpPr>
          <p:nvPr>
            <p:ph idx="1"/>
          </p:nvPr>
        </p:nvSpPr>
        <p:spPr>
          <a:xfrm>
            <a:off x="674739" y="1425678"/>
            <a:ext cx="10515600" cy="3298168"/>
          </a:xfrm>
        </p:spPr>
        <p:txBody>
          <a:bodyPr>
            <a:normAutofit/>
          </a:bodyPr>
          <a:lstStyle/>
          <a:p>
            <a:r>
              <a:rPr lang="en-US" sz="2000" dirty="0"/>
              <a:t>We are using the </a:t>
            </a:r>
            <a:r>
              <a:rPr lang="en-US" sz="2000" b="1" dirty="0"/>
              <a:t>Open Food Facts dataset</a:t>
            </a:r>
            <a:r>
              <a:rPr lang="en-US" sz="2000" dirty="0"/>
              <a:t>.</a:t>
            </a:r>
          </a:p>
          <a:p>
            <a:r>
              <a:rPr lang="en-US" sz="2000" dirty="0"/>
              <a:t>The dataset contains information from product labels, such as ingredients, allergens, nutrition facts, brands, and product categories.</a:t>
            </a:r>
          </a:p>
          <a:p>
            <a:r>
              <a:rPr lang="en-US" sz="2000" dirty="0"/>
              <a:t>It includes </a:t>
            </a:r>
            <a:r>
              <a:rPr lang="en-US" sz="2000" b="1" dirty="0"/>
              <a:t>over 4 million food products</a:t>
            </a:r>
            <a:r>
              <a:rPr lang="en-US" sz="2000" dirty="0"/>
              <a:t> from </a:t>
            </a:r>
            <a:r>
              <a:rPr lang="en-US" sz="2000" b="1" dirty="0"/>
              <a:t>150 countries</a:t>
            </a:r>
            <a:r>
              <a:rPr lang="en-US" sz="2000" dirty="0"/>
              <a:t>.</a:t>
            </a:r>
          </a:p>
          <a:p>
            <a:r>
              <a:rPr lang="en-US" sz="2000" dirty="0"/>
              <a:t>It has more than </a:t>
            </a:r>
            <a:r>
              <a:rPr lang="en-US" sz="2000" b="1" dirty="0"/>
              <a:t>150 columns</a:t>
            </a:r>
            <a:r>
              <a:rPr lang="en-US" sz="2000" dirty="0"/>
              <a:t>, which gives detailed information about each food product.</a:t>
            </a:r>
          </a:p>
        </p:txBody>
      </p:sp>
      <p:sp>
        <p:nvSpPr>
          <p:cNvPr id="4" name="TextBox 3">
            <a:extLst>
              <a:ext uri="{FF2B5EF4-FFF2-40B4-BE49-F238E27FC236}">
                <a16:creationId xmlns:a16="http://schemas.microsoft.com/office/drawing/2014/main" id="{213FB478-B6C4-EAE4-EB4F-27201F18944D}"/>
              </a:ext>
            </a:extLst>
          </p:cNvPr>
          <p:cNvSpPr txBox="1"/>
          <p:nvPr/>
        </p:nvSpPr>
        <p:spPr>
          <a:xfrm>
            <a:off x="747252" y="4809161"/>
            <a:ext cx="10370574" cy="1754326"/>
          </a:xfrm>
          <a:prstGeom prst="rect">
            <a:avLst/>
          </a:prstGeom>
          <a:noFill/>
        </p:spPr>
        <p:txBody>
          <a:bodyPr wrap="square" rtlCol="0">
            <a:spAutoFit/>
          </a:bodyPr>
          <a:lstStyle/>
          <a:p>
            <a:r>
              <a:rPr lang="en-US" dirty="0"/>
              <a:t>We use the Open Food Facts dataset, a large open-source food product database with over 4 million products from 150 countries. It contains product names, brands, ingredients, allergens, categories, and detailed nutrition values per 100g. For our project, we focus on key nutrition columns such as protein, fiber, sugar, salt, fat, carbohydrates, and energy. After cleaning the data and removing missing values, we use it to calculate a nutrition score for each item and apply the 0/1 Knapsack algorithm to select the best grocery items within a budget.</a:t>
            </a:r>
          </a:p>
        </p:txBody>
      </p:sp>
    </p:spTree>
    <p:extLst>
      <p:ext uri="{BB962C8B-B14F-4D97-AF65-F5344CB8AC3E}">
        <p14:creationId xmlns:p14="http://schemas.microsoft.com/office/powerpoint/2010/main" val="3597567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942F-D530-95A6-1C82-DB0065EACE48}"/>
              </a:ext>
            </a:extLst>
          </p:cNvPr>
          <p:cNvSpPr>
            <a:spLocks noGrp="1"/>
          </p:cNvSpPr>
          <p:nvPr>
            <p:ph type="title"/>
          </p:nvPr>
        </p:nvSpPr>
        <p:spPr>
          <a:xfrm>
            <a:off x="838200" y="365125"/>
            <a:ext cx="9131710" cy="991727"/>
          </a:xfrm>
        </p:spPr>
        <p:txBody>
          <a:bodyPr>
            <a:normAutofit/>
          </a:bodyPr>
          <a:lstStyle/>
          <a:p>
            <a:r>
              <a:rPr lang="en-US" sz="2400" dirty="0"/>
              <a:t>Algorithm</a:t>
            </a:r>
          </a:p>
        </p:txBody>
      </p:sp>
      <p:sp>
        <p:nvSpPr>
          <p:cNvPr id="3" name="Content Placeholder 2">
            <a:extLst>
              <a:ext uri="{FF2B5EF4-FFF2-40B4-BE49-F238E27FC236}">
                <a16:creationId xmlns:a16="http://schemas.microsoft.com/office/drawing/2014/main" id="{5482CD43-2ADA-B682-325D-7C2DC679DBCF}"/>
              </a:ext>
            </a:extLst>
          </p:cNvPr>
          <p:cNvSpPr>
            <a:spLocks noGrp="1"/>
          </p:cNvSpPr>
          <p:nvPr>
            <p:ph idx="1"/>
          </p:nvPr>
        </p:nvSpPr>
        <p:spPr/>
        <p:txBody>
          <a:bodyPr>
            <a:normAutofit/>
          </a:bodyPr>
          <a:lstStyle/>
          <a:p>
            <a:r>
              <a:rPr lang="en-US" sz="1600" dirty="0"/>
              <a:t>The code first loads and cleans the grocery dataset.</a:t>
            </a:r>
          </a:p>
          <a:p>
            <a:r>
              <a:rPr lang="en-US" sz="1600" dirty="0"/>
              <a:t>Each grocery item gets a random </a:t>
            </a:r>
            <a:r>
              <a:rPr lang="en-US" sz="1600" b="1" dirty="0"/>
              <a:t>price</a:t>
            </a:r>
            <a:r>
              <a:rPr lang="en-US" sz="1600" dirty="0"/>
              <a:t> between $2 and $12</a:t>
            </a:r>
          </a:p>
          <a:p>
            <a:r>
              <a:rPr lang="en-US" sz="1600" dirty="0"/>
              <a:t>Each item also gets a </a:t>
            </a:r>
            <a:r>
              <a:rPr lang="en-US" sz="1600" b="1" dirty="0"/>
              <a:t>nutrition score</a:t>
            </a:r>
            <a:r>
              <a:rPr lang="en-US" sz="1600" dirty="0"/>
              <a:t> using protein, fiber, sugar, and salt.</a:t>
            </a:r>
          </a:p>
          <a:p>
            <a:r>
              <a:rPr lang="en-US" sz="1600" dirty="0"/>
              <a:t>The user enters a </a:t>
            </a:r>
            <a:r>
              <a:rPr lang="en-US" sz="1600" b="1" dirty="0"/>
              <a:t>budget</a:t>
            </a:r>
            <a:r>
              <a:rPr lang="en-US" sz="1600" dirty="0"/>
              <a:t>.</a:t>
            </a:r>
          </a:p>
          <a:p>
            <a:r>
              <a:rPr lang="en-US" sz="1600" dirty="0"/>
              <a:t>The knapsack() function uses that budget to build a dynamic programming table.</a:t>
            </a:r>
          </a:p>
          <a:p>
            <a:r>
              <a:rPr lang="en-US" sz="1600" dirty="0"/>
              <a:t>For every item, the code decides whether to:</a:t>
            </a:r>
          </a:p>
          <a:p>
            <a:pPr lvl="1"/>
            <a:r>
              <a:rPr lang="en-US" sz="1400" b="1" dirty="0"/>
              <a:t>take the item</a:t>
            </a:r>
            <a:r>
              <a:rPr lang="en-US" sz="1400" dirty="0"/>
              <a:t>, or</a:t>
            </a:r>
          </a:p>
          <a:p>
            <a:pPr lvl="1"/>
            <a:r>
              <a:rPr lang="en-US" sz="1400" dirty="0"/>
              <a:t>skip the item</a:t>
            </a:r>
            <a:endParaRPr lang="en-US" sz="1400" b="1" dirty="0"/>
          </a:p>
          <a:p>
            <a:r>
              <a:rPr lang="en-US" sz="1600" dirty="0"/>
              <a:t>It keeps the option that gives the higher nutrition score.</a:t>
            </a:r>
          </a:p>
          <a:p>
            <a:r>
              <a:rPr lang="en-US" sz="1600" dirty="0"/>
              <a:t>After the table is filled, the code traces backward to find the selected items.</a:t>
            </a:r>
          </a:p>
          <a:p>
            <a:r>
              <a:rPr lang="en-US" sz="1600" dirty="0"/>
              <a:t>The final result is the grocery list with the best nutrition score that stays within the budget.</a:t>
            </a:r>
          </a:p>
        </p:txBody>
      </p:sp>
    </p:spTree>
    <p:extLst>
      <p:ext uri="{BB962C8B-B14F-4D97-AF65-F5344CB8AC3E}">
        <p14:creationId xmlns:p14="http://schemas.microsoft.com/office/powerpoint/2010/main" val="3950278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40F09-A628-3F36-D846-6C731E62FF5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Project workflow</a:t>
            </a:r>
          </a:p>
        </p:txBody>
      </p:sp>
      <p:pic>
        <p:nvPicPr>
          <p:cNvPr id="7" name="Picture 6">
            <a:extLst>
              <a:ext uri="{FF2B5EF4-FFF2-40B4-BE49-F238E27FC236}">
                <a16:creationId xmlns:a16="http://schemas.microsoft.com/office/drawing/2014/main" id="{A9B76B4B-E54D-2D54-BF98-84429754F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9389" y="643466"/>
            <a:ext cx="4176554" cy="5568739"/>
          </a:xfrm>
          <a:prstGeom prst="rect">
            <a:avLst/>
          </a:prstGeom>
        </p:spPr>
      </p:pic>
    </p:spTree>
    <p:extLst>
      <p:ext uri="{BB962C8B-B14F-4D97-AF65-F5344CB8AC3E}">
        <p14:creationId xmlns:p14="http://schemas.microsoft.com/office/powerpoint/2010/main" val="591138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7FF48C-AF46-4D52-998F-ED0BDDEEF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9000"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82A2421-4034-9809-FB75-3255269EE8C9}"/>
              </a:ext>
            </a:extLst>
          </p:cNvPr>
          <p:cNvSpPr>
            <a:spLocks noGrp="1"/>
          </p:cNvSpPr>
          <p:nvPr>
            <p:ph type="title"/>
          </p:nvPr>
        </p:nvSpPr>
        <p:spPr>
          <a:xfrm>
            <a:off x="1137034" y="609599"/>
            <a:ext cx="5338194" cy="1322888"/>
          </a:xfrm>
        </p:spPr>
        <p:txBody>
          <a:bodyPr vert="horz" lIns="91440" tIns="45720" rIns="91440" bIns="45720" rtlCol="0" anchor="ctr">
            <a:normAutofit/>
          </a:bodyPr>
          <a:lstStyle/>
          <a:p>
            <a:r>
              <a:rPr lang="en-US" dirty="0"/>
              <a:t>Nutrition Score Formula</a:t>
            </a:r>
          </a:p>
        </p:txBody>
      </p:sp>
      <p:sp>
        <p:nvSpPr>
          <p:cNvPr id="6" name="TextBox 5">
            <a:extLst>
              <a:ext uri="{FF2B5EF4-FFF2-40B4-BE49-F238E27FC236}">
                <a16:creationId xmlns:a16="http://schemas.microsoft.com/office/drawing/2014/main" id="{BF8C8B4A-1565-C07A-49A0-5D43049CB401}"/>
              </a:ext>
            </a:extLst>
          </p:cNvPr>
          <p:cNvSpPr txBox="1"/>
          <p:nvPr/>
        </p:nvSpPr>
        <p:spPr>
          <a:xfrm>
            <a:off x="1137034" y="2194101"/>
            <a:ext cx="4742771" cy="398341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a:t>In our project, this formula gives each grocery item a </a:t>
            </a:r>
            <a:r>
              <a:rPr lang="en-US" sz="1400" b="1"/>
              <a:t>value</a:t>
            </a:r>
            <a:r>
              <a:rPr lang="en-US" sz="1400"/>
              <a:t>. Items with more protein and fiber get a higher score, while items with more sugar and salt get a lower score.</a:t>
            </a:r>
          </a:p>
          <a:p>
            <a:pPr indent="-228600">
              <a:lnSpc>
                <a:spcPct val="90000"/>
              </a:lnSpc>
              <a:spcAft>
                <a:spcPts val="600"/>
              </a:spcAft>
              <a:buFont typeface="Arial" panose="020B0604020202020204" pitchFamily="34" charset="0"/>
              <a:buChar char="•"/>
            </a:pPr>
            <a:endParaRPr lang="en-US" sz="1400"/>
          </a:p>
          <a:p>
            <a:pPr marL="285750" indent="-228600">
              <a:lnSpc>
                <a:spcPct val="90000"/>
              </a:lnSpc>
              <a:spcAft>
                <a:spcPts val="600"/>
              </a:spcAft>
              <a:buFont typeface="Arial" panose="020B0604020202020204" pitchFamily="34" charset="0"/>
              <a:buChar char="•"/>
            </a:pPr>
            <a:r>
              <a:rPr lang="en-US" sz="1400" b="1"/>
              <a:t>How Knapsack Is Applied</a:t>
            </a:r>
          </a:p>
          <a:p>
            <a:pPr marL="285750" indent="-228600">
              <a:lnSpc>
                <a:spcPct val="90000"/>
              </a:lnSpc>
              <a:spcAft>
                <a:spcPts val="600"/>
              </a:spcAft>
              <a:buFont typeface="Arial" panose="020B0604020202020204" pitchFamily="34" charset="0"/>
              <a:buChar char="•"/>
            </a:pPr>
            <a:r>
              <a:rPr lang="en-US" sz="1400"/>
              <a:t>Each grocery item has two important parts:</a:t>
            </a:r>
          </a:p>
          <a:p>
            <a:pPr marL="742950" lvl="1" indent="-228600">
              <a:lnSpc>
                <a:spcPct val="90000"/>
              </a:lnSpc>
              <a:spcAft>
                <a:spcPts val="600"/>
              </a:spcAft>
              <a:buFont typeface="Arial" panose="020B0604020202020204" pitchFamily="34" charset="0"/>
              <a:buChar char="•"/>
            </a:pPr>
            <a:r>
              <a:rPr lang="en-US" sz="1400" b="1"/>
              <a:t>Price</a:t>
            </a:r>
            <a:r>
              <a:rPr lang="en-US" sz="1400"/>
              <a:t> = cost of selecting the item</a:t>
            </a:r>
          </a:p>
          <a:p>
            <a:pPr marL="742950" lvl="1" indent="-228600">
              <a:lnSpc>
                <a:spcPct val="90000"/>
              </a:lnSpc>
              <a:spcAft>
                <a:spcPts val="600"/>
              </a:spcAft>
              <a:buFont typeface="Arial" panose="020B0604020202020204" pitchFamily="34" charset="0"/>
              <a:buChar char="•"/>
            </a:pPr>
            <a:r>
              <a:rPr lang="en-US" sz="1400" b="1"/>
              <a:t>Nutrition score</a:t>
            </a:r>
            <a:r>
              <a:rPr lang="en-US" sz="1400"/>
              <a:t> = value/benefit of selecting the item</a:t>
            </a:r>
          </a:p>
          <a:p>
            <a:pPr marL="285750" indent="-228600">
              <a:lnSpc>
                <a:spcPct val="90000"/>
              </a:lnSpc>
              <a:spcAft>
                <a:spcPts val="600"/>
              </a:spcAft>
              <a:buFont typeface="Arial" panose="020B0604020202020204" pitchFamily="34" charset="0"/>
              <a:buChar char="•"/>
            </a:pPr>
            <a:r>
              <a:rPr lang="en-US" sz="1400"/>
              <a:t>The user’s </a:t>
            </a:r>
            <a:r>
              <a:rPr lang="en-US" sz="1400" b="1"/>
              <a:t>budget</a:t>
            </a:r>
            <a:r>
              <a:rPr lang="en-US" sz="1400"/>
              <a:t> becomes the knapsack limit.</a:t>
            </a:r>
          </a:p>
          <a:p>
            <a:pPr marL="285750" indent="-228600">
              <a:lnSpc>
                <a:spcPct val="90000"/>
              </a:lnSpc>
              <a:spcAft>
                <a:spcPts val="600"/>
              </a:spcAft>
              <a:buFont typeface="Arial" panose="020B0604020202020204" pitchFamily="34" charset="0"/>
              <a:buChar char="•"/>
            </a:pPr>
            <a:r>
              <a:rPr lang="en-US" sz="1400"/>
              <a:t>The algorithm checks whether to </a:t>
            </a:r>
            <a:r>
              <a:rPr lang="en-US" sz="1400" b="1"/>
              <a:t>take or skip</a:t>
            </a:r>
            <a:r>
              <a:rPr lang="en-US" sz="1400"/>
              <a:t> each item.</a:t>
            </a:r>
          </a:p>
          <a:p>
            <a:pPr marL="285750" indent="-228600">
              <a:lnSpc>
                <a:spcPct val="90000"/>
              </a:lnSpc>
              <a:spcAft>
                <a:spcPts val="600"/>
              </a:spcAft>
              <a:buFont typeface="Arial" panose="020B0604020202020204" pitchFamily="34" charset="0"/>
              <a:buChar char="•"/>
            </a:pPr>
            <a:r>
              <a:rPr lang="en-US" sz="1400"/>
              <a:t>It chooses the combination of grocery items with the </a:t>
            </a:r>
            <a:r>
              <a:rPr lang="en-US" sz="1400" b="1"/>
              <a:t>highest total nutrition score</a:t>
            </a:r>
            <a:r>
              <a:rPr lang="en-US" sz="1400"/>
              <a:t> while keeping the </a:t>
            </a:r>
            <a:r>
              <a:rPr lang="en-US" sz="1400" b="1"/>
              <a:t>total price within the budget</a:t>
            </a:r>
            <a:r>
              <a:rPr lang="en-US" sz="1400"/>
              <a:t>. </a:t>
            </a:r>
          </a:p>
          <a:p>
            <a:pPr lvl="1" indent="-228600">
              <a:lnSpc>
                <a:spcPct val="90000"/>
              </a:lnSpc>
              <a:spcAft>
                <a:spcPts val="600"/>
              </a:spcAft>
              <a:buFont typeface="Arial" panose="020B0604020202020204" pitchFamily="34" charset="0"/>
              <a:buChar char="•"/>
            </a:pPr>
            <a:endParaRPr lang="en-US" sz="1400"/>
          </a:p>
        </p:txBody>
      </p:sp>
      <p:pic>
        <p:nvPicPr>
          <p:cNvPr id="9" name="Picture 8">
            <a:extLst>
              <a:ext uri="{FF2B5EF4-FFF2-40B4-BE49-F238E27FC236}">
                <a16:creationId xmlns:a16="http://schemas.microsoft.com/office/drawing/2014/main" id="{A4C79132-04D6-CEF7-0A6C-B7620C389C4E}"/>
              </a:ext>
            </a:extLst>
          </p:cNvPr>
          <p:cNvPicPr>
            <a:picLocks noChangeAspect="1"/>
          </p:cNvPicPr>
          <p:nvPr/>
        </p:nvPicPr>
        <p:blipFill>
          <a:blip r:embed="rId2"/>
          <a:stretch>
            <a:fillRect/>
          </a:stretch>
        </p:blipFill>
        <p:spPr>
          <a:xfrm>
            <a:off x="7612913" y="1094458"/>
            <a:ext cx="3740887" cy="2185687"/>
          </a:xfrm>
          <a:prstGeom prst="rect">
            <a:avLst/>
          </a:prstGeom>
        </p:spPr>
      </p:pic>
      <p:pic>
        <p:nvPicPr>
          <p:cNvPr id="5" name="Content Placeholder 4">
            <a:extLst>
              <a:ext uri="{FF2B5EF4-FFF2-40B4-BE49-F238E27FC236}">
                <a16:creationId xmlns:a16="http://schemas.microsoft.com/office/drawing/2014/main" id="{4B3215C9-36CF-D05A-5499-51AF2A468906}"/>
              </a:ext>
            </a:extLst>
          </p:cNvPr>
          <p:cNvPicPr>
            <a:picLocks noGrp="1" noChangeAspect="1"/>
          </p:cNvPicPr>
          <p:nvPr>
            <p:ph idx="1"/>
          </p:nvPr>
        </p:nvPicPr>
        <p:blipFill>
          <a:blip r:embed="rId3"/>
          <a:stretch>
            <a:fillRect/>
          </a:stretch>
        </p:blipFill>
        <p:spPr>
          <a:xfrm>
            <a:off x="7612912" y="3601878"/>
            <a:ext cx="3740887" cy="1682354"/>
          </a:xfrm>
          <a:prstGeom prst="rect">
            <a:avLst/>
          </a:prstGeom>
        </p:spPr>
      </p:pic>
    </p:spTree>
    <p:extLst>
      <p:ext uri="{BB962C8B-B14F-4D97-AF65-F5344CB8AC3E}">
        <p14:creationId xmlns:p14="http://schemas.microsoft.com/office/powerpoint/2010/main" val="416042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2B0CB2-74ED-59FD-40DE-081A082901F3}"/>
              </a:ext>
            </a:extLst>
          </p:cNvPr>
          <p:cNvSpPr>
            <a:spLocks noGrp="1"/>
          </p:cNvSpPr>
          <p:nvPr>
            <p:ph type="title"/>
          </p:nvPr>
        </p:nvSpPr>
        <p:spPr>
          <a:xfrm>
            <a:off x="1137034" y="609597"/>
            <a:ext cx="9392421" cy="1330841"/>
          </a:xfrm>
        </p:spPr>
        <p:txBody>
          <a:bodyPr>
            <a:normAutofit/>
          </a:bodyPr>
          <a:lstStyle/>
          <a:p>
            <a:r>
              <a:rPr lang="en-US"/>
              <a:t>Results</a:t>
            </a:r>
          </a:p>
        </p:txBody>
      </p:sp>
      <p:sp>
        <p:nvSpPr>
          <p:cNvPr id="3" name="Content Placeholder 2">
            <a:extLst>
              <a:ext uri="{FF2B5EF4-FFF2-40B4-BE49-F238E27FC236}">
                <a16:creationId xmlns:a16="http://schemas.microsoft.com/office/drawing/2014/main" id="{5C2A9EA3-9165-7747-BCDC-290DF4922F4C}"/>
              </a:ext>
            </a:extLst>
          </p:cNvPr>
          <p:cNvSpPr>
            <a:spLocks noGrp="1"/>
          </p:cNvSpPr>
          <p:nvPr>
            <p:ph idx="1"/>
          </p:nvPr>
        </p:nvSpPr>
        <p:spPr>
          <a:xfrm>
            <a:off x="1137034" y="2198362"/>
            <a:ext cx="4958966" cy="3917773"/>
          </a:xfrm>
        </p:spPr>
        <p:txBody>
          <a:bodyPr>
            <a:normAutofit/>
          </a:bodyPr>
          <a:lstStyle/>
          <a:p>
            <a:r>
              <a:rPr lang="en-US" sz="1700"/>
              <a:t>The app successfully selects the best grocery items within the user’s budget.</a:t>
            </a:r>
          </a:p>
          <a:p>
            <a:r>
              <a:rPr lang="en-US" sz="1700"/>
              <a:t>The selected items have the highest possible total nutrition score based on the formula.</a:t>
            </a:r>
          </a:p>
          <a:p>
            <a:r>
              <a:rPr lang="en-US" sz="1700"/>
              <a:t>The output shows the </a:t>
            </a:r>
            <a:r>
              <a:rPr lang="en-US" sz="1700" b="1"/>
              <a:t>selected grocery items</a:t>
            </a:r>
            <a:r>
              <a:rPr lang="en-US" sz="1700"/>
              <a:t>, including their price and nutrition score.</a:t>
            </a:r>
          </a:p>
          <a:p>
            <a:r>
              <a:rPr lang="en-US" sz="1700"/>
              <a:t>The output shows the </a:t>
            </a:r>
            <a:r>
              <a:rPr lang="en-US" sz="1700" b="1"/>
              <a:t>selected grocery items</a:t>
            </a:r>
            <a:r>
              <a:rPr lang="en-US" sz="1700"/>
              <a:t>, including their price and nutrition score.</a:t>
            </a:r>
          </a:p>
          <a:p>
            <a:r>
              <a:rPr lang="en-US" sz="1700"/>
              <a:t>It also shows the </a:t>
            </a:r>
            <a:r>
              <a:rPr lang="en-US" sz="1700" b="1"/>
              <a:t>total cost</a:t>
            </a:r>
            <a:r>
              <a:rPr lang="en-US" sz="1700"/>
              <a:t>, </a:t>
            </a:r>
            <a:r>
              <a:rPr lang="en-US" sz="1700" b="1"/>
              <a:t>remaining budget</a:t>
            </a:r>
            <a:r>
              <a:rPr lang="en-US" sz="1700"/>
              <a:t>, and </a:t>
            </a:r>
            <a:r>
              <a:rPr lang="en-US" sz="1700" b="1"/>
              <a:t>best nutrition score</a:t>
            </a:r>
          </a:p>
          <a:p>
            <a:r>
              <a:rPr lang="en-US" sz="1700"/>
              <a:t>A bar graph displays the nutrition scores of the selected items.</a:t>
            </a:r>
          </a:p>
        </p:txBody>
      </p:sp>
      <p:pic>
        <p:nvPicPr>
          <p:cNvPr id="5" name="Picture 4">
            <a:extLst>
              <a:ext uri="{FF2B5EF4-FFF2-40B4-BE49-F238E27FC236}">
                <a16:creationId xmlns:a16="http://schemas.microsoft.com/office/drawing/2014/main" id="{F8603AFB-C463-6D67-C389-3FB62CE2B937}"/>
              </a:ext>
            </a:extLst>
          </p:cNvPr>
          <p:cNvPicPr>
            <a:picLocks noChangeAspect="1"/>
          </p:cNvPicPr>
          <p:nvPr/>
        </p:nvPicPr>
        <p:blipFill>
          <a:blip r:embed="rId2"/>
          <a:stretch>
            <a:fillRect/>
          </a:stretch>
        </p:blipFill>
        <p:spPr>
          <a:xfrm>
            <a:off x="6719367" y="2895673"/>
            <a:ext cx="4788505" cy="2334396"/>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94288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2A06746-1767-3CD8-FB6E-493CB525D9FE}"/>
              </a:ext>
            </a:extLst>
          </p:cNvPr>
          <p:cNvSpPr>
            <a:spLocks noGrp="1"/>
          </p:cNvSpPr>
          <p:nvPr>
            <p:ph type="title"/>
          </p:nvPr>
        </p:nvSpPr>
        <p:spPr>
          <a:xfrm>
            <a:off x="1137034" y="609597"/>
            <a:ext cx="9392421" cy="1330841"/>
          </a:xfrm>
        </p:spPr>
        <p:txBody>
          <a:bodyPr>
            <a:normAutofit/>
          </a:bodyPr>
          <a:lstStyle/>
          <a:p>
            <a:r>
              <a:rPr lang="en-US"/>
              <a:t>Web application</a:t>
            </a:r>
            <a:endParaRPr lang="en-US" dirty="0"/>
          </a:p>
        </p:txBody>
      </p:sp>
      <p:sp>
        <p:nvSpPr>
          <p:cNvPr id="3" name="Content Placeholder 2">
            <a:extLst>
              <a:ext uri="{FF2B5EF4-FFF2-40B4-BE49-F238E27FC236}">
                <a16:creationId xmlns:a16="http://schemas.microsoft.com/office/drawing/2014/main" id="{9059196D-8BF4-79A5-A78C-4E46973AFF76}"/>
              </a:ext>
            </a:extLst>
          </p:cNvPr>
          <p:cNvSpPr>
            <a:spLocks noGrp="1"/>
          </p:cNvSpPr>
          <p:nvPr>
            <p:ph idx="1"/>
          </p:nvPr>
        </p:nvSpPr>
        <p:spPr>
          <a:xfrm>
            <a:off x="1137034" y="2198362"/>
            <a:ext cx="4958966" cy="3917773"/>
          </a:xfrm>
        </p:spPr>
        <p:txBody>
          <a:bodyPr>
            <a:normAutofit/>
          </a:bodyPr>
          <a:lstStyle/>
          <a:p>
            <a:r>
              <a:rPr lang="en-US" sz="1400"/>
              <a:t>The user uploads a grocery CSV file that contains product names, brands, and nutrition columns such as protein, fiber, sugar, salt, fat, carbohydrates, and energy per 100g.</a:t>
            </a:r>
          </a:p>
          <a:p>
            <a:r>
              <a:rPr lang="en-US" sz="1400"/>
              <a:t>The user enters a grocery budget, such as $30 or $50, which tells the app the maximum amount they want to spend.</a:t>
            </a:r>
          </a:p>
          <a:p>
            <a:r>
              <a:rPr lang="en-US" sz="1400"/>
              <a:t>After clicking </a:t>
            </a:r>
            <a:r>
              <a:rPr lang="en-US" sz="1400" b="1"/>
              <a:t>“Optimize Grocery Basket,”</a:t>
            </a:r>
            <a:r>
              <a:rPr lang="en-US" sz="1400"/>
              <a:t> the app shows the selected grocery items, total cost, remaining budget, total nutrition score, and number of items selected.</a:t>
            </a:r>
          </a:p>
          <a:p>
            <a:r>
              <a:rPr lang="en-US" sz="1400"/>
              <a:t>The app also displays a bar graph comparing the nutrition scores of the selected items which helps the user shop better by choosing a balanced set of healthier grocery items while staying within their budget.</a:t>
            </a:r>
          </a:p>
        </p:txBody>
      </p:sp>
      <p:pic>
        <p:nvPicPr>
          <p:cNvPr id="5" name="Picture 4">
            <a:extLst>
              <a:ext uri="{FF2B5EF4-FFF2-40B4-BE49-F238E27FC236}">
                <a16:creationId xmlns:a16="http://schemas.microsoft.com/office/drawing/2014/main" id="{522A2247-5163-EA79-7E69-0D43E8ED23E9}"/>
              </a:ext>
            </a:extLst>
          </p:cNvPr>
          <p:cNvPicPr>
            <a:picLocks noChangeAspect="1"/>
          </p:cNvPicPr>
          <p:nvPr/>
        </p:nvPicPr>
        <p:blipFill>
          <a:blip r:embed="rId2"/>
          <a:stretch>
            <a:fillRect/>
          </a:stretch>
        </p:blipFill>
        <p:spPr>
          <a:xfrm>
            <a:off x="6719367" y="2979472"/>
            <a:ext cx="4788505" cy="2166799"/>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7603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4D8DF-F12B-EC96-304E-8ED0EB9078E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6677EE2-2E5C-8C3C-9BC2-AC96FA91683A}"/>
              </a:ext>
            </a:extLst>
          </p:cNvPr>
          <p:cNvSpPr>
            <a:spLocks noGrp="1"/>
          </p:cNvSpPr>
          <p:nvPr>
            <p:ph idx="1"/>
          </p:nvPr>
        </p:nvSpPr>
        <p:spPr/>
        <p:txBody>
          <a:bodyPr/>
          <a:lstStyle/>
          <a:p>
            <a:r>
              <a:rPr lang="en-US" dirty="0"/>
              <a:t>This project showed how the </a:t>
            </a:r>
            <a:r>
              <a:rPr lang="en-US" b="1" dirty="0"/>
              <a:t>0/1 Knapsack algorithm</a:t>
            </a:r>
            <a:r>
              <a:rPr lang="en-US" dirty="0"/>
              <a:t> can be applied to a real-world problem that people face in everyday life: choosing groceries within a budget. We learned that dynamic programming is not only a theoretical concept, but a practical method for making better decisions when there are limited resources. By treating grocery prices as the </a:t>
            </a:r>
            <a:r>
              <a:rPr lang="en-US" b="1" dirty="0"/>
              <a:t>constraint</a:t>
            </a:r>
            <a:r>
              <a:rPr lang="en-US" dirty="0"/>
              <a:t> and nutrition scores as the </a:t>
            </a:r>
            <a:r>
              <a:rPr lang="en-US" b="1" dirty="0"/>
              <a:t>value</a:t>
            </a:r>
            <a:r>
              <a:rPr lang="en-US" dirty="0"/>
              <a:t>, we used the algorithm to find the best possible grocery basket. Overall, this project helped us understand how algorithms can support smarter, healthier, and more budget-friendly shopping decisions.</a:t>
            </a:r>
          </a:p>
        </p:txBody>
      </p:sp>
    </p:spTree>
    <p:extLst>
      <p:ext uri="{BB962C8B-B14F-4D97-AF65-F5344CB8AC3E}">
        <p14:creationId xmlns:p14="http://schemas.microsoft.com/office/powerpoint/2010/main" val="2901061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848</Words>
  <Application>Microsoft Office PowerPoint</Application>
  <PresentationFormat>Widescreen</PresentationFormat>
  <Paragraphs>54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Grocery Shopping Optimization Using Dynamic Programming </vt:lpstr>
      <vt:lpstr>Problem statement</vt:lpstr>
      <vt:lpstr>Dataset overview</vt:lpstr>
      <vt:lpstr>Algorithm</vt:lpstr>
      <vt:lpstr>Project workflow</vt:lpstr>
      <vt:lpstr>Nutrition Score Formula</vt:lpstr>
      <vt:lpstr>Results</vt:lpstr>
      <vt:lpstr>Web application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Shashank Ashok</dc:creator>
  <cp:lastModifiedBy>Shashank Ashok</cp:lastModifiedBy>
  <cp:revision>1</cp:revision>
  <dcterms:created xsi:type="dcterms:W3CDTF">2026-05-07T02:45:11Z</dcterms:created>
  <dcterms:modified xsi:type="dcterms:W3CDTF">2026-05-07T03:31:58Z</dcterms:modified>
</cp:coreProperties>
</file>